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3" autoAdjust="0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69" y="2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Order Mode Split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F06-4BA6-A295-B719857253C3}"/>
              </c:ext>
            </c:extLst>
          </c:dPt>
          <c:dPt>
            <c:idx val="1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F06-4BA6-A295-B719857253C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ar-SA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F06-4BA6-A295-B719857253C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ar-SA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F06-4BA6-A295-B719857253C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ar-SA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DIRECT</c:v>
                </c:pt>
                <c:pt idx="1">
                  <c:v>ONLINE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51.9</c:v>
                </c:pt>
                <c:pt idx="1">
                  <c:v>48.1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F06-4BA6-A295-B719857253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Customer Classification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388-46F1-8261-9173A5F20A1E}"/>
              </c:ext>
            </c:extLst>
          </c:dPt>
          <c:dPt>
            <c:idx val="1"/>
            <c:invertIfNegative val="0"/>
            <c:bubble3D val="0"/>
            <c:spPr>
              <a:solidFill>
                <a:srgbClr val="2563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388-46F1-8261-9173A5F20A1E}"/>
              </c:ext>
            </c:extLst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388-46F1-8261-9173A5F20A1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ar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Type A</c:v>
                </c:pt>
                <c:pt idx="1">
                  <c:v>Type B</c:v>
                </c:pt>
                <c:pt idx="2">
                  <c:v>Type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</c:v>
                </c:pt>
                <c:pt idx="1">
                  <c:v>3</c:v>
                </c:pt>
                <c:pt idx="2">
                  <c:v>282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388-46F1-8261-9173A5F20A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0218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" name="Shape 2"/>
          <p:cNvSpPr/>
          <p:nvPr/>
        </p:nvSpPr>
        <p:spPr>
          <a:xfrm>
            <a:off x="6858000" y="73152"/>
            <a:ext cx="2286000" cy="4997196"/>
          </a:xfrm>
          <a:prstGeom prst="rect">
            <a:avLst/>
          </a:prstGeom>
          <a:solidFill>
            <a:srgbClr val="1E4A8A">
              <a:alpha val="70000"/>
            </a:srgbClr>
          </a:solidFill>
          <a:ln w="12700">
            <a:solidFill>
              <a:srgbClr val="1E4A8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" name="Shape 3"/>
          <p:cNvSpPr/>
          <p:nvPr/>
        </p:nvSpPr>
        <p:spPr>
          <a:xfrm>
            <a:off x="7132320" y="457200"/>
            <a:ext cx="1371600" cy="13716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" name="Shape 4"/>
          <p:cNvSpPr/>
          <p:nvPr/>
        </p:nvSpPr>
        <p:spPr>
          <a:xfrm>
            <a:off x="7498080" y="2286000"/>
            <a:ext cx="914400" cy="914400"/>
          </a:xfrm>
          <a:prstGeom prst="ellipse">
            <a:avLst/>
          </a:prstGeom>
          <a:solidFill>
            <a:srgbClr val="2563AB">
              <a:alpha val="40000"/>
            </a:srgbClr>
          </a:solidFill>
          <a:ln w="12700">
            <a:solidFill>
              <a:srgbClr val="2563A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Jeddah  •  CCDS-221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Warehousing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3200400" cy="4572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Abdulaziz Yasiir Bugshan   •  2342952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37413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36850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399592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implements a full ETL pipeline and Star Schema data warehouse using Oracle SQL and PL/SQL.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11480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109728" cy="1463040"/>
          </a:xfrm>
          <a:prstGeom prst="rect">
            <a:avLst/>
          </a:prstGeom>
          <a:solidFill>
            <a:srgbClr val="2563AB"/>
          </a:solidFill>
          <a:ln w="12700">
            <a:solidFill>
              <a:srgbClr val="2563A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" name="Text 6"/>
          <p:cNvSpPr/>
          <p:nvPr/>
        </p:nvSpPr>
        <p:spPr>
          <a:xfrm>
            <a:off x="566928" y="16002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984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Copy &amp; clean source tables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2768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 NULL values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5694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T_DATE dimension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411480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109728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4" name="Text 12"/>
          <p:cNvSpPr/>
          <p:nvPr/>
        </p:nvSpPr>
        <p:spPr>
          <a:xfrm>
            <a:off x="4864608" y="16002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– ETL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984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Calculate customer turnover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64608" y="22768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Classify customers A/B/C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64608" y="25694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Using PL/SQL blocks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411480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109728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0" name="Text 18"/>
          <p:cNvSpPr/>
          <p:nvPr/>
        </p:nvSpPr>
        <p:spPr>
          <a:xfrm>
            <a:off x="566928" y="3246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– Currency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36301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Convert orders to EUR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39227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 8 territories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42153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Multi-currency logic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154680"/>
            <a:ext cx="411480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5" name="Shape 23"/>
          <p:cNvSpPr/>
          <p:nvPr/>
        </p:nvSpPr>
        <p:spPr>
          <a:xfrm>
            <a:off x="4663440" y="3154680"/>
            <a:ext cx="109728" cy="1463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6" name="Text 24"/>
          <p:cNvSpPr/>
          <p:nvPr/>
        </p:nvSpPr>
        <p:spPr>
          <a:xfrm>
            <a:off x="4864608" y="3246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– Star Schema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64608" y="36301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4 dimension tables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64608" y="39227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fact table F_ORDERS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64608" y="42153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Analytical queries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Work – Data Preparation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3931920" cy="384048"/>
          </a:xfrm>
          <a:prstGeom prst="rect">
            <a:avLst/>
          </a:prstGeom>
          <a:solidFill>
            <a:srgbClr val="2563AB"/>
          </a:solidFill>
          <a:ln w="12700">
            <a:solidFill>
              <a:srgbClr val="2563A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ORDERS_COPY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39319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OE.ORDERS into ORDERS_COPY (105 rows)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856232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Capitalize ORDER_MODE using UPPER()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359152"/>
            <a:ext cx="39319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35 NULL values in SALES_REP_ID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862072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4" name="Text 12"/>
          <p:cNvSpPr/>
          <p:nvPr/>
        </p:nvSpPr>
        <p:spPr>
          <a:xfrm>
            <a:off x="502920" y="288036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NULL SALES_REP_ID with 999 using NVL()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39319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" name="Text 14"/>
          <p:cNvSpPr/>
          <p:nvPr/>
        </p:nvSpPr>
        <p:spPr>
          <a:xfrm>
            <a:off x="502920" y="33832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NULL PROMOTION_ID with 0 using NVL()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867912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8" name="Text 16"/>
          <p:cNvSpPr/>
          <p:nvPr/>
        </p:nvSpPr>
        <p:spPr>
          <a:xfrm>
            <a:off x="502920" y="38862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COUNT(*) vs COUNT(column) — NULL awareness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896112"/>
            <a:ext cx="393192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0" name="Text 18"/>
          <p:cNvSpPr/>
          <p:nvPr/>
        </p:nvSpPr>
        <p:spPr>
          <a:xfrm>
            <a:off x="4846320" y="8961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T_DATE Dimension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1353312"/>
            <a:ext cx="39319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2" name="Text 20"/>
          <p:cNvSpPr/>
          <p:nvPr/>
        </p:nvSpPr>
        <p:spPr>
          <a:xfrm>
            <a:off x="4983480" y="13716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ORDER_DATE from OE.ORDERS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1856232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4" name="Text 22"/>
          <p:cNvSpPr/>
          <p:nvPr/>
        </p:nvSpPr>
        <p:spPr>
          <a:xfrm>
            <a:off x="4983480" y="187452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dates as DD-MM-YYYY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2359152"/>
            <a:ext cx="39319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6" name="Text 24"/>
          <p:cNvSpPr/>
          <p:nvPr/>
        </p:nvSpPr>
        <p:spPr>
          <a:xfrm>
            <a:off x="4983480" y="237744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duplicates → apply DISTINCT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2862072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8" name="Text 26"/>
          <p:cNvSpPr/>
          <p:nvPr/>
        </p:nvSpPr>
        <p:spPr>
          <a:xfrm>
            <a:off x="4983480" y="288036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unique dates after deduplication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3364992"/>
            <a:ext cx="39319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0" name="Text 28"/>
          <p:cNvSpPr/>
          <p:nvPr/>
        </p:nvSpPr>
        <p:spPr>
          <a:xfrm>
            <a:off x="4983480" y="33832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Extract: Day_No, Day_Name, Month_No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3867912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2" name="Text 30"/>
          <p:cNvSpPr/>
          <p:nvPr/>
        </p:nvSpPr>
        <p:spPr>
          <a:xfrm>
            <a:off x="4983480" y="38862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Extract: Month_Name, Quarter, YYear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– Customer Turnover &amp; Classification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Steps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347472" cy="347472"/>
          </a:xfrm>
          <a:prstGeom prst="ellipse">
            <a:avLst/>
          </a:prstGeom>
          <a:solidFill>
            <a:srgbClr val="2563AB"/>
          </a:solidFill>
          <a:ln w="12700">
            <a:solidFill>
              <a:srgbClr val="2563A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261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OE.CUSTOMERS table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 total customers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38528"/>
            <a:ext cx="347472" cy="347472"/>
          </a:xfrm>
          <a:prstGeom prst="ellipse">
            <a:avLst/>
          </a:prstGeom>
          <a:solidFill>
            <a:srgbClr val="2563AB"/>
          </a:solidFill>
          <a:ln w="12700">
            <a:solidFill>
              <a:srgbClr val="2563A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" name="Text 9"/>
          <p:cNvSpPr/>
          <p:nvPr/>
        </p:nvSpPr>
        <p:spPr>
          <a:xfrm>
            <a:off x="365760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TURNOVER column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1396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NUMBER(12,2) precision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96896"/>
            <a:ext cx="347472" cy="347472"/>
          </a:xfrm>
          <a:prstGeom prst="ellipse">
            <a:avLst/>
          </a:prstGeom>
          <a:solidFill>
            <a:srgbClr val="2563AB"/>
          </a:solidFill>
          <a:ln w="12700">
            <a:solidFill>
              <a:srgbClr val="2563A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5" name="Text 13"/>
          <p:cNvSpPr/>
          <p:nvPr/>
        </p:nvSpPr>
        <p:spPr>
          <a:xfrm>
            <a:off x="365760" y="2596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578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CUST_TYPE column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27980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VARCHAR2(1) — A, B, or 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255264"/>
            <a:ext cx="347472" cy="347472"/>
          </a:xfrm>
          <a:prstGeom prst="ellipse">
            <a:avLst/>
          </a:prstGeom>
          <a:solidFill>
            <a:srgbClr val="2563AB"/>
          </a:solidFill>
          <a:ln w="12700">
            <a:solidFill>
              <a:srgbClr val="2563A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9" name="Text 17"/>
          <p:cNvSpPr/>
          <p:nvPr/>
        </p:nvSpPr>
        <p:spPr>
          <a:xfrm>
            <a:off x="365760" y="3255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2369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UPDATE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4564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SUM(ORDER_TOTAL) per customer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913632"/>
            <a:ext cx="347472" cy="347472"/>
          </a:xfrm>
          <a:prstGeom prst="ellipse">
            <a:avLst/>
          </a:prstGeom>
          <a:solidFill>
            <a:srgbClr val="2563AB"/>
          </a:solidFill>
          <a:ln w="12700">
            <a:solidFill>
              <a:srgbClr val="2563A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3" name="Text 21"/>
          <p:cNvSpPr/>
          <p:nvPr/>
        </p:nvSpPr>
        <p:spPr>
          <a:xfrm>
            <a:off x="365760" y="3913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8953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Classification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114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IF/ELSIF/ELSE block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8961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Rules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1280160"/>
            <a:ext cx="393192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8" name="Shape 26"/>
          <p:cNvSpPr/>
          <p:nvPr/>
        </p:nvSpPr>
        <p:spPr>
          <a:xfrm>
            <a:off x="4846320" y="1280160"/>
            <a:ext cx="457200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9" name="Text 27"/>
          <p:cNvSpPr/>
          <p:nvPr/>
        </p:nvSpPr>
        <p:spPr>
          <a:xfrm>
            <a:off x="5349240" y="1298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49240" y="15361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≥ Avg_Turnover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1920240"/>
            <a:ext cx="393192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32" name="Shape 30"/>
          <p:cNvSpPr/>
          <p:nvPr/>
        </p:nvSpPr>
        <p:spPr>
          <a:xfrm>
            <a:off x="4846320" y="1920240"/>
            <a:ext cx="457200" cy="530352"/>
          </a:xfrm>
          <a:prstGeom prst="rect">
            <a:avLst/>
          </a:prstGeom>
          <a:solidFill>
            <a:srgbClr val="2563AB"/>
          </a:solidFill>
          <a:ln w="12700">
            <a:solidFill>
              <a:srgbClr val="2563A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3" name="Text 31"/>
          <p:cNvSpPr/>
          <p:nvPr/>
        </p:nvSpPr>
        <p:spPr>
          <a:xfrm>
            <a:off x="5349240" y="1938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B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49240" y="21762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× Avg ≤ TURNOVER &lt; Avg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46320" y="2560320"/>
            <a:ext cx="393192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36" name="Shape 34"/>
          <p:cNvSpPr/>
          <p:nvPr/>
        </p:nvSpPr>
        <p:spPr>
          <a:xfrm>
            <a:off x="4846320" y="2560320"/>
            <a:ext cx="457200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7" name="Text 35"/>
          <p:cNvSpPr/>
          <p:nvPr/>
        </p:nvSpPr>
        <p:spPr>
          <a:xfrm>
            <a:off x="5349240" y="2578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49240" y="28163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&lt; ½ × Avg_Turnover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46320" y="3291840"/>
            <a:ext cx="3931920" cy="14630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0" name="Text 38"/>
          <p:cNvSpPr/>
          <p:nvPr/>
        </p:nvSpPr>
        <p:spPr>
          <a:xfrm>
            <a:off x="5029200" y="3364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029200" y="3703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9436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customers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0" y="4023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B: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94360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customers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29200" y="4343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C: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4360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282 customers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– Currency Conversion to EUR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country has its own currency. We standardize all ORDER_TOTAL values to Euros using exchange rates.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53312"/>
          <a:ext cx="4114800" cy="33832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to 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SWITZERLAND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THAILAND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0" y="1280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0" y="1719072"/>
            <a:ext cx="37490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9" name="Shape 6"/>
          <p:cNvSpPr/>
          <p:nvPr/>
        </p:nvSpPr>
        <p:spPr>
          <a:xfrm>
            <a:off x="5029200" y="1719072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0" name="Text 7"/>
          <p:cNvSpPr/>
          <p:nvPr/>
        </p:nvSpPr>
        <p:spPr>
          <a:xfrm>
            <a:off x="5029200" y="17190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4068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8 territories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4068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DISTINCT NLS_TERRITORY FROM OE.CUSTOMERS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0" y="2523744"/>
            <a:ext cx="37490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4" name="Shape 11"/>
          <p:cNvSpPr/>
          <p:nvPr/>
        </p:nvSpPr>
        <p:spPr>
          <a:xfrm>
            <a:off x="5029200" y="2523744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5" name="Text 12"/>
          <p:cNvSpPr/>
          <p:nvPr/>
        </p:nvSpPr>
        <p:spPr>
          <a:xfrm>
            <a:off x="5029200" y="25237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40680" y="2542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CURRENCY_RATES table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40680" y="28163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exchange rates for each country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0" y="3328416"/>
            <a:ext cx="37490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9" name="Shape 16"/>
          <p:cNvSpPr/>
          <p:nvPr/>
        </p:nvSpPr>
        <p:spPr>
          <a:xfrm>
            <a:off x="5029200" y="3328416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0" name="Text 17"/>
          <p:cNvSpPr/>
          <p:nvPr/>
        </p:nvSpPr>
        <p:spPr>
          <a:xfrm>
            <a:off x="5029200" y="3328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40680" y="33467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ORDERS_IN_EURO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40680" y="36210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Orders + Customers, add euro column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029200" y="4133088"/>
            <a:ext cx="37490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4" name="Shape 21"/>
          <p:cNvSpPr/>
          <p:nvPr/>
        </p:nvSpPr>
        <p:spPr>
          <a:xfrm>
            <a:off x="5029200" y="4133088"/>
            <a:ext cx="3200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5" name="Text 22"/>
          <p:cNvSpPr/>
          <p:nvPr/>
        </p:nvSpPr>
        <p:spPr>
          <a:xfrm>
            <a:off x="5029200" y="4133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40680" y="41513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conversion via UPDATE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440680" y="4425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ROUND(ORDER_TOTAL × EURO_RATE, 2)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– Star Schema Implementation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" name="Shape 3"/>
          <p:cNvSpPr/>
          <p:nvPr/>
        </p:nvSpPr>
        <p:spPr>
          <a:xfrm>
            <a:off x="3429000" y="1920240"/>
            <a:ext cx="228600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6" name="Text 4"/>
          <p:cNvSpPr/>
          <p:nvPr/>
        </p:nvSpPr>
        <p:spPr>
          <a:xfrm>
            <a:off x="342900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F_ORDERS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29000" y="2331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(Fact Table)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29000" y="2560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ORDER_AMOUNT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2900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rows loaded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103120" cy="132588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A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1" name="Shape 9"/>
          <p:cNvSpPr/>
          <p:nvPr/>
        </p:nvSpPr>
        <p:spPr>
          <a:xfrm>
            <a:off x="274320" y="822960"/>
            <a:ext cx="2103120" cy="347472"/>
          </a:xfrm>
          <a:prstGeom prst="rect">
            <a:avLst/>
          </a:prstGeom>
          <a:solidFill>
            <a:srgbClr val="2563AB"/>
          </a:solidFill>
          <a:ln w="12700">
            <a:solidFill>
              <a:srgbClr val="2563A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2" name="Text 10"/>
          <p:cNvSpPr/>
          <p:nvPr/>
        </p:nvSpPr>
        <p:spPr>
          <a:xfrm>
            <a:off x="274320" y="8229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D_TIME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1207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ID_T, DDate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1490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Month_No, Month_Name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1773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Quarter, YYear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03120" y="2103120"/>
            <a:ext cx="1325880" cy="91440"/>
          </a:xfrm>
          <a:prstGeom prst="line">
            <a:avLst/>
          </a:prstGeom>
          <a:noFill/>
          <a:ln w="19050">
            <a:solidFill>
              <a:srgbClr val="2563AB"/>
            </a:solidFill>
            <a:prstDash val="dash"/>
          </a:ln>
        </p:spPr>
        <p:txBody>
          <a:bodyPr/>
          <a:lstStyle/>
          <a:p>
            <a:endParaRPr lang="ar-SA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2103120" cy="1325880"/>
          </a:xfrm>
          <a:prstGeom prst="rect">
            <a:avLst/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8" name="Shape 16"/>
          <p:cNvSpPr/>
          <p:nvPr/>
        </p:nvSpPr>
        <p:spPr>
          <a:xfrm>
            <a:off x="274320" y="3200400"/>
            <a:ext cx="210312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9" name="Text 17"/>
          <p:cNvSpPr/>
          <p:nvPr/>
        </p:nvSpPr>
        <p:spPr>
          <a:xfrm>
            <a:off x="274320" y="3200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D_CUSTOMERS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584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ID_C, C_FName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38679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C_LName, Gender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41513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(A/B/C)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103120" y="3749040"/>
            <a:ext cx="132588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dash"/>
          </a:ln>
        </p:spPr>
        <p:txBody>
          <a:bodyPr/>
          <a:lstStyle/>
          <a:p>
            <a:endParaRPr lang="ar-SA"/>
          </a:p>
        </p:txBody>
      </p:sp>
      <p:sp>
        <p:nvSpPr>
          <p:cNvPr id="24" name="Shape 22"/>
          <p:cNvSpPr/>
          <p:nvPr/>
        </p:nvSpPr>
        <p:spPr>
          <a:xfrm>
            <a:off x="6766560" y="822960"/>
            <a:ext cx="2103120" cy="1325880"/>
          </a:xfrm>
          <a:prstGeom prst="rect">
            <a:avLst/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5" name="Shape 23"/>
          <p:cNvSpPr/>
          <p:nvPr/>
        </p:nvSpPr>
        <p:spPr>
          <a:xfrm>
            <a:off x="6766560" y="822960"/>
            <a:ext cx="21031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6" name="Text 24"/>
          <p:cNvSpPr/>
          <p:nvPr/>
        </p:nvSpPr>
        <p:spPr>
          <a:xfrm>
            <a:off x="6766560" y="8229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D_ORDERS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1207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ID_O, OMode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0" y="1490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766560" y="2103120"/>
            <a:ext cx="0" cy="91440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ar-SA"/>
          </a:p>
        </p:txBody>
      </p:sp>
      <p:sp>
        <p:nvSpPr>
          <p:cNvPr id="30" name="Shape 28"/>
          <p:cNvSpPr/>
          <p:nvPr/>
        </p:nvSpPr>
        <p:spPr>
          <a:xfrm>
            <a:off x="6766560" y="3200400"/>
            <a:ext cx="2103120" cy="1325880"/>
          </a:xfrm>
          <a:prstGeom prst="rect">
            <a:avLst/>
          </a:prstGeom>
          <a:solidFill>
            <a:srgbClr val="F8FAFC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31" name="Shape 29"/>
          <p:cNvSpPr/>
          <p:nvPr/>
        </p:nvSpPr>
        <p:spPr>
          <a:xfrm>
            <a:off x="6766560" y="3200400"/>
            <a:ext cx="21031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2" name="Text 30"/>
          <p:cNvSpPr/>
          <p:nvPr/>
        </p:nvSpPr>
        <p:spPr>
          <a:xfrm>
            <a:off x="6766560" y="3200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D_SALESMAN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3584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ID_S, SName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58000" y="38679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salesmen)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66560" y="3749040"/>
            <a:ext cx="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ar-SA"/>
          </a:p>
        </p:txBody>
      </p:sp>
      <p:sp>
        <p:nvSpPr>
          <p:cNvPr id="36" name="Shape 34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7" name="Text 35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in warehouse: 3,668,054.7  •  DIRECT orders: 51.9%  •  ONLINE orders: 48.1%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&amp; Analytics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920240" cy="1188720"/>
          </a:xfrm>
          <a:prstGeom prst="rect">
            <a:avLst/>
          </a:prstGeom>
          <a:solidFill>
            <a:srgbClr val="2563AB"/>
          </a:solidFill>
          <a:ln w="12700">
            <a:solidFill>
              <a:srgbClr val="2563AB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868680"/>
            <a:ext cx="1920240" cy="118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9" name="Text 7"/>
          <p:cNvSpPr/>
          <p:nvPr/>
        </p:nvSpPr>
        <p:spPr>
          <a:xfrm>
            <a:off x="2450592" y="960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50592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26864" y="868680"/>
            <a:ext cx="192024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2" name="Text 10"/>
          <p:cNvSpPr/>
          <p:nvPr/>
        </p:nvSpPr>
        <p:spPr>
          <a:xfrm>
            <a:off x="4626864" y="960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626864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Dates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03136" y="868680"/>
            <a:ext cx="192024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5" name="Text 13"/>
          <p:cNvSpPr/>
          <p:nvPr/>
        </p:nvSpPr>
        <p:spPr>
          <a:xfrm>
            <a:off x="6803136" y="960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803136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Salesmen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240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Queries Performed</a:t>
            </a:r>
            <a:endParaRPr lang="en-US" sz="14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365760" y="2651760"/>
          <a:ext cx="38404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"/>
          <p:cNvGraphicFramePr/>
          <p:nvPr/>
        </p:nvGraphicFramePr>
        <p:xfrm>
          <a:off x="4754880" y="2651760"/>
          <a:ext cx="41148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" name="Shape 2"/>
          <p:cNvSpPr/>
          <p:nvPr/>
        </p:nvSpPr>
        <p:spPr>
          <a:xfrm>
            <a:off x="6583680" y="73152"/>
            <a:ext cx="2560320" cy="4997196"/>
          </a:xfrm>
          <a:prstGeom prst="rect">
            <a:avLst/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accomplished in this project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54864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" name="Text 6"/>
          <p:cNvSpPr/>
          <p:nvPr/>
        </p:nvSpPr>
        <p:spPr>
          <a:xfrm>
            <a:off x="658368" y="15087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ETL pipeline from raw Oracle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54864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0" name="Text 8"/>
          <p:cNvSpPr/>
          <p:nvPr/>
        </p:nvSpPr>
        <p:spPr>
          <a:xfrm>
            <a:off x="658368" y="205740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transformed 105 orders, 319 customers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54864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2" name="Text 10"/>
          <p:cNvSpPr/>
          <p:nvPr/>
        </p:nvSpPr>
        <p:spPr>
          <a:xfrm>
            <a:off x="658368" y="260604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customers by turnover: A (34), B (3), C (282)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54864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4" name="Text 12"/>
          <p:cNvSpPr/>
          <p:nvPr/>
        </p:nvSpPr>
        <p:spPr>
          <a:xfrm>
            <a:off x="658368" y="315468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multi-currency orders to a standard EUR format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54864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" name="Text 14"/>
          <p:cNvSpPr/>
          <p:nvPr/>
        </p:nvSpPr>
        <p:spPr>
          <a:xfrm>
            <a:off x="658368" y="370332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loaded a Star Schema data warehouse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51960"/>
            <a:ext cx="54864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8" name="Text 16"/>
          <p:cNvSpPr/>
          <p:nvPr/>
        </p:nvSpPr>
        <p:spPr>
          <a:xfrm>
            <a:off x="658368" y="42519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OLAP analytics: turnover, trends, percentages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548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178040" y="868680"/>
            <a:ext cx="1005840" cy="1005840"/>
          </a:xfrm>
          <a:prstGeom prst="ellipse">
            <a:avLst/>
          </a:prstGeom>
          <a:solidFill>
            <a:srgbClr val="2563AB"/>
          </a:solidFill>
          <a:ln w="12700">
            <a:solidFill>
              <a:srgbClr val="2563A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1" name="Text 19"/>
          <p:cNvSpPr/>
          <p:nvPr/>
        </p:nvSpPr>
        <p:spPr>
          <a:xfrm>
            <a:off x="7178040" y="868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Abdulaziz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Bugshan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178040" y="1874520"/>
            <a:ext cx="1005840" cy="1005840"/>
          </a:xfrm>
          <a:prstGeom prst="ellipse">
            <a:avLst/>
          </a:prstGeom>
          <a:solidFill>
            <a:srgbClr val="2563AB"/>
          </a:solidFill>
          <a:ln w="12700">
            <a:solidFill>
              <a:srgbClr val="2563A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3" name="Text 21"/>
          <p:cNvSpPr/>
          <p:nvPr/>
        </p:nvSpPr>
        <p:spPr>
          <a:xfrm>
            <a:off x="7178040" y="18745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Alghamdi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178040" y="2880360"/>
            <a:ext cx="1005840" cy="1005840"/>
          </a:xfrm>
          <a:prstGeom prst="ellipse">
            <a:avLst/>
          </a:prstGeom>
          <a:solidFill>
            <a:srgbClr val="2563AB"/>
          </a:solidFill>
          <a:ln w="12700">
            <a:solidFill>
              <a:srgbClr val="2563A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5" name="Text 23"/>
          <p:cNvSpPr/>
          <p:nvPr/>
        </p:nvSpPr>
        <p:spPr>
          <a:xfrm>
            <a:off x="7178040" y="2880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Almalki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178040" y="3886200"/>
            <a:ext cx="1005840" cy="1005840"/>
          </a:xfrm>
          <a:prstGeom prst="ellipse">
            <a:avLst/>
          </a:prstGeom>
          <a:solidFill>
            <a:srgbClr val="2563AB"/>
          </a:solidFill>
          <a:ln w="12700">
            <a:solidFill>
              <a:srgbClr val="2563A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7" name="Text 25"/>
          <p:cNvSpPr/>
          <p:nvPr/>
        </p:nvSpPr>
        <p:spPr>
          <a:xfrm>
            <a:off x="7178040" y="3886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Alghamdi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COUNT(*) vs COUNT(column)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project, PROMOTION_ID was NULL for all 105 rows. This led to an important discovery: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3931920" cy="320040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393192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COUNT(PROMOTION_ID)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1783080"/>
            <a:ext cx="1920240" cy="19202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0" name="Text 8"/>
          <p:cNvSpPr/>
          <p:nvPr/>
        </p:nvSpPr>
        <p:spPr>
          <a:xfrm>
            <a:off x="1371600" y="178308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COUNT(column) ignores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 completely!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325880"/>
            <a:ext cx="3931920" cy="320040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3" name="Shape 11"/>
          <p:cNvSpPr/>
          <p:nvPr/>
        </p:nvSpPr>
        <p:spPr>
          <a:xfrm>
            <a:off x="4846320" y="1325880"/>
            <a:ext cx="393192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4" name="Text 12"/>
          <p:cNvSpPr/>
          <p:nvPr/>
        </p:nvSpPr>
        <p:spPr>
          <a:xfrm>
            <a:off x="4846320" y="13258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COUNT(*)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52160" y="1783080"/>
            <a:ext cx="1920240" cy="19202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" name="Text 14"/>
          <p:cNvSpPr/>
          <p:nvPr/>
        </p:nvSpPr>
        <p:spPr>
          <a:xfrm>
            <a:off x="5852160" y="178308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4937760" y="3749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COUNT(*) counts all rows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regardless of NULL values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Fix: Replace NULLs with 0 using NVL(PROMOTION_ID, 0)  →  COUNT now returns 105 ✓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Flow — From Source to Data Warehouse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(OE Schema)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43200" cy="475488"/>
          </a:xfrm>
          <a:prstGeom prst="rect">
            <a:avLst/>
          </a:prstGeom>
          <a:solidFill>
            <a:srgbClr val="2563AB"/>
          </a:solidFill>
          <a:ln w="12700">
            <a:solidFill>
              <a:srgbClr val="2563A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OE.ORDERS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743200" cy="475488"/>
          </a:xfrm>
          <a:prstGeom prst="rect">
            <a:avLst/>
          </a:prstGeom>
          <a:solidFill>
            <a:srgbClr val="2563AB"/>
          </a:solidFill>
          <a:ln w="12700">
            <a:solidFill>
              <a:srgbClr val="2563A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9" name="Text 7"/>
          <p:cNvSpPr/>
          <p:nvPr/>
        </p:nvSpPr>
        <p:spPr>
          <a:xfrm>
            <a:off x="3246120" y="11887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OE.CUSTOMERS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2743200" cy="475488"/>
          </a:xfrm>
          <a:prstGeom prst="rect">
            <a:avLst/>
          </a:prstGeom>
          <a:solidFill>
            <a:srgbClr val="2563AB"/>
          </a:solidFill>
          <a:ln w="12700">
            <a:solidFill>
              <a:srgbClr val="2563A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" name="Text 9"/>
          <p:cNvSpPr/>
          <p:nvPr/>
        </p:nvSpPr>
        <p:spPr>
          <a:xfrm>
            <a:off x="6217920" y="11887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OE.EMPLOYEES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0" y="1664208"/>
            <a:ext cx="0" cy="32004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3" name="Text 11"/>
          <p:cNvSpPr/>
          <p:nvPr/>
        </p:nvSpPr>
        <p:spPr>
          <a:xfrm>
            <a:off x="2057400" y="1901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1664208"/>
            <a:ext cx="0" cy="32004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5" name="Text 13"/>
          <p:cNvSpPr/>
          <p:nvPr/>
        </p:nvSpPr>
        <p:spPr>
          <a:xfrm>
            <a:off x="4572000" y="1901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1664208"/>
            <a:ext cx="0" cy="32004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7" name="Text 15"/>
          <p:cNvSpPr/>
          <p:nvPr/>
        </p:nvSpPr>
        <p:spPr>
          <a:xfrm>
            <a:off x="7543800" y="1901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21488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(Extract + Transform)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423160"/>
            <a:ext cx="27432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0" name="Text 18"/>
          <p:cNvSpPr/>
          <p:nvPr/>
        </p:nvSpPr>
        <p:spPr>
          <a:xfrm>
            <a:off x="274320" y="24231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ORDERS_COPY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ORDERS_IN_EURO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2423160"/>
            <a:ext cx="27432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2" name="Text 20"/>
          <p:cNvSpPr/>
          <p:nvPr/>
        </p:nvSpPr>
        <p:spPr>
          <a:xfrm>
            <a:off x="3246120" y="24231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CUSTOMER_COPY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(+TURNOVER +TYPE)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2423160"/>
            <a:ext cx="27432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4" name="Text 22"/>
          <p:cNvSpPr/>
          <p:nvPr/>
        </p:nvSpPr>
        <p:spPr>
          <a:xfrm>
            <a:off x="6217920" y="24231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T_DATE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T_SALESMAN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0" y="2990088"/>
            <a:ext cx="0" cy="2743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6" name="Text 24"/>
          <p:cNvSpPr/>
          <p:nvPr/>
        </p:nvSpPr>
        <p:spPr>
          <a:xfrm>
            <a:off x="2057400" y="3200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2990088"/>
            <a:ext cx="0" cy="2743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8" name="Text 26"/>
          <p:cNvSpPr/>
          <p:nvPr/>
        </p:nvSpPr>
        <p:spPr>
          <a:xfrm>
            <a:off x="4572000" y="3200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72400" y="2990088"/>
            <a:ext cx="0" cy="2743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0" name="Text 28"/>
          <p:cNvSpPr/>
          <p:nvPr/>
        </p:nvSpPr>
        <p:spPr>
          <a:xfrm>
            <a:off x="7543800" y="3200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" y="34564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(Load — Star Schema)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749040"/>
            <a:ext cx="1920240" cy="594360"/>
          </a:xfrm>
          <a:prstGeom prst="rect">
            <a:avLst/>
          </a:prstGeom>
          <a:solidFill>
            <a:srgbClr val="2563AB"/>
          </a:solidFill>
          <a:ln w="12700">
            <a:solidFill>
              <a:srgbClr val="2563A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3" name="Text 31"/>
          <p:cNvSpPr/>
          <p:nvPr/>
        </p:nvSpPr>
        <p:spPr>
          <a:xfrm>
            <a:off x="274320" y="3749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D_TIME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23160" y="3749040"/>
            <a:ext cx="192024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5" name="Text 33"/>
          <p:cNvSpPr/>
          <p:nvPr/>
        </p:nvSpPr>
        <p:spPr>
          <a:xfrm>
            <a:off x="2423160" y="3749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D_CUSTOMERS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3749040"/>
            <a:ext cx="192024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7" name="Text 35"/>
          <p:cNvSpPr/>
          <p:nvPr/>
        </p:nvSpPr>
        <p:spPr>
          <a:xfrm>
            <a:off x="4572000" y="3749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F_ORDERS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(Fact)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0" y="3749040"/>
            <a:ext cx="192024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9" name="Text 37"/>
          <p:cNvSpPr/>
          <p:nvPr/>
        </p:nvSpPr>
        <p:spPr>
          <a:xfrm>
            <a:off x="6675120" y="3749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D_ORDERS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11880" y="4434840"/>
            <a:ext cx="192024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1" name="Text 39"/>
          <p:cNvSpPr/>
          <p:nvPr/>
        </p:nvSpPr>
        <p:spPr>
          <a:xfrm>
            <a:off x="3611880" y="4434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D_SALESMAN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Block — Customer Classification Logic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393192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— Loop all customers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7373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3931920" cy="475488"/>
          </a:xfrm>
          <a:prstGeom prst="rect">
            <a:avLst/>
          </a:prstGeom>
          <a:solidFill>
            <a:srgbClr val="2563AB"/>
          </a:solidFill>
          <a:ln w="12700">
            <a:solidFill>
              <a:srgbClr val="2563A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AVG(TURNOVER)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23500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87168"/>
            <a:ext cx="393192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3" name="Text 11"/>
          <p:cNvSpPr/>
          <p:nvPr/>
        </p:nvSpPr>
        <p:spPr>
          <a:xfrm>
            <a:off x="365760" y="248716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TURNOVER ≥ Avg → Type 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9626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099816"/>
            <a:ext cx="393192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" name="Text 14"/>
          <p:cNvSpPr/>
          <p:nvPr/>
        </p:nvSpPr>
        <p:spPr>
          <a:xfrm>
            <a:off x="365760" y="309981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ELSIF TURNOVER ≥ ½Avg → Type 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35753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712464"/>
            <a:ext cx="393192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9" name="Text 17"/>
          <p:cNvSpPr/>
          <p:nvPr/>
        </p:nvSpPr>
        <p:spPr>
          <a:xfrm>
            <a:off x="365760" y="371246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→ Type 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4187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325112"/>
            <a:ext cx="393192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2" name="Text 20"/>
          <p:cNvSpPr/>
          <p:nvPr/>
        </p:nvSpPr>
        <p:spPr>
          <a:xfrm>
            <a:off x="365760" y="432511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868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Code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234440"/>
            <a:ext cx="420624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5" name="Text 23"/>
          <p:cNvSpPr/>
          <p:nvPr/>
        </p:nvSpPr>
        <p:spPr>
          <a:xfrm>
            <a:off x="4754880" y="13258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152247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v_avg  NUMBER;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171907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19156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AVG(TURNOVER)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211226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INTO v_avg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23088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CUSTOMER_COPY;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25054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27020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rec IN (SELECT *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28986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CUSTOMER_COPY) LOOP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309524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rec.TURNOVER &gt;= v_avg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0" y="32918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→ SET TYPE = 'A'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348843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ELSIF rec.TURNOVER &gt;=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36850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0.5*v_avg → TYPE='B'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0" y="38816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→ SET TYPE = 'C'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407822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 IF;  END LOOP;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42748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COMMIT;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54880" y="44714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970</Words>
  <Application>Microsoft Office PowerPoint</Application>
  <PresentationFormat>On-screen Show (16:9)</PresentationFormat>
  <Paragraphs>238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CCDS-221 Data Warehousing Project</dc:title>
  <dc:subject>PptxGenJS Presentation</dc:subject>
  <dc:creator>PptxGenJS</dc:creator>
  <cp:lastModifiedBy>عبدالعزيز ياسر عبدالله بقشان</cp:lastModifiedBy>
  <cp:revision>3</cp:revision>
  <dcterms:created xsi:type="dcterms:W3CDTF">2026-06-02T19:01:52Z</dcterms:created>
  <dcterms:modified xsi:type="dcterms:W3CDTF">2026-09-22T22:16:29Z</dcterms:modified>
</cp:coreProperties>
</file>